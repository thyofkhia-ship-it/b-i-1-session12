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56"/>
    <p:restoredTop sz="94658"/>
  </p:normalViewPr>
  <p:slideViewPr>
    <p:cSldViewPr snapToGrid="0">
      <p:cViewPr>
        <p:scale>
          <a:sx n="130" d="100"/>
          <a:sy n="130" d="100"/>
        </p:scale>
        <p:origin x="-144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426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460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25307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6869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0984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53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7004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3282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8786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1924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3358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710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2879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8162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1351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18356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V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46172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004755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01047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69270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18544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87030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913848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82656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246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41653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23851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19300B3-F511-3D45-9629-236339E6414F}" type="datetimeFigureOut">
              <a:rPr lang="en-VN" smtClean="0"/>
              <a:t>26/10/26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B45922B-4505-9343-BCD1-67D3C23DBA0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7361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4F8668C-D705-E907-4366-3C70A6BD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37" y="119743"/>
            <a:ext cx="2697522" cy="1030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3D6FC7-588D-7F44-ABB0-92827E34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228" y="1"/>
            <a:ext cx="4847772" cy="685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997247-A415-68C2-4C7E-E7454D09AFAB}"/>
              </a:ext>
            </a:extLst>
          </p:cNvPr>
          <p:cNvSpPr txBox="1"/>
          <p:nvPr/>
        </p:nvSpPr>
        <p:spPr>
          <a:xfrm>
            <a:off x="1976283" y="2802298"/>
            <a:ext cx="43556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dirty="0">
                <a:solidFill>
                  <a:srgbClr val="0070C0"/>
                </a:solidFill>
              </a:rPr>
              <a:t>BÁO CÁO LỖ LÃI</a:t>
            </a:r>
          </a:p>
          <a:p>
            <a:r>
              <a:rPr lang="en-VN" sz="2800" dirty="0">
                <a:solidFill>
                  <a:srgbClr val="7030A0"/>
                </a:solidFill>
              </a:rPr>
              <a:t>THÁNG 5/2024</a:t>
            </a:r>
          </a:p>
        </p:txBody>
      </p:sp>
    </p:spTree>
    <p:extLst>
      <p:ext uri="{BB962C8B-B14F-4D97-AF65-F5344CB8AC3E}">
        <p14:creationId xmlns:p14="http://schemas.microsoft.com/office/powerpoint/2010/main" val="791116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82EF9A-6496-57DC-85DB-29011901F227}"/>
              </a:ext>
            </a:extLst>
          </p:cNvPr>
          <p:cNvSpPr/>
          <p:nvPr/>
        </p:nvSpPr>
        <p:spPr>
          <a:xfrm>
            <a:off x="737416" y="1423214"/>
            <a:ext cx="2064785" cy="43753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  <a:p>
            <a:pPr algn="ctr"/>
            <a:r>
              <a:rPr lang="en-US" dirty="0">
                <a:solidFill>
                  <a:srgbClr val="002060"/>
                </a:solidFill>
              </a:rPr>
              <a:t>DOANH THU THUẦN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  <a:p>
            <a:pPr algn="ctr"/>
            <a:r>
              <a:rPr lang="en-US" sz="4800" dirty="0">
                <a:solidFill>
                  <a:srgbClr val="002060"/>
                </a:solidFill>
              </a:rPr>
              <a:t>12,45</a:t>
            </a:r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Tỷ</a:t>
            </a:r>
            <a:r>
              <a:rPr lang="en-US" dirty="0">
                <a:solidFill>
                  <a:srgbClr val="002060"/>
                </a:solidFill>
              </a:rPr>
              <a:t> VNĐ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  <a:p>
            <a:pPr algn="ctr"/>
            <a:endParaRPr lang="en-US" dirty="0">
              <a:solidFill>
                <a:srgbClr val="002060"/>
              </a:solidFill>
            </a:endParaRPr>
          </a:p>
          <a:p>
            <a:pPr algn="ctr"/>
            <a:r>
              <a:rPr lang="en-US" dirty="0">
                <a:solidFill>
                  <a:srgbClr val="002060"/>
                </a:solidFill>
              </a:rPr>
              <a:t>   +18,6%</a:t>
            </a:r>
          </a:p>
          <a:p>
            <a:pPr algn="ctr"/>
            <a:r>
              <a:rPr lang="en-US" sz="1200" dirty="0"/>
              <a:t>So </a:t>
            </a:r>
            <a:r>
              <a:rPr lang="en-US" sz="1200" dirty="0" err="1"/>
              <a:t>với</a:t>
            </a:r>
            <a:r>
              <a:rPr lang="en-US" sz="1200" dirty="0"/>
              <a:t> T4/2024</a:t>
            </a:r>
          </a:p>
          <a:p>
            <a:pPr algn="ctr"/>
            <a:endParaRPr lang="en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2776D-D8AE-F18D-3CEF-7838BEA2D53D}"/>
              </a:ext>
            </a:extLst>
          </p:cNvPr>
          <p:cNvSpPr txBox="1"/>
          <p:nvPr/>
        </p:nvSpPr>
        <p:spPr>
          <a:xfrm>
            <a:off x="427704" y="442449"/>
            <a:ext cx="3392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dirty="0">
                <a:solidFill>
                  <a:srgbClr val="7030A0"/>
                </a:solidFill>
              </a:rPr>
              <a:t>TỔNG QUAN KẾT QUẢ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5CC91-CD58-A24C-C131-C6714893E612}"/>
              </a:ext>
            </a:extLst>
          </p:cNvPr>
          <p:cNvSpPr/>
          <p:nvPr/>
        </p:nvSpPr>
        <p:spPr>
          <a:xfrm>
            <a:off x="3652674" y="1423215"/>
            <a:ext cx="2143441" cy="43753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dirty="0">
                <a:solidFill>
                  <a:srgbClr val="00B050"/>
                </a:solidFill>
              </a:rPr>
              <a:t>TỔNG CHI PHÍ</a:t>
            </a:r>
          </a:p>
          <a:p>
            <a:pPr algn="ctr"/>
            <a:endParaRPr lang="en-VN" dirty="0">
              <a:solidFill>
                <a:srgbClr val="00B050"/>
              </a:solidFill>
            </a:endParaRPr>
          </a:p>
          <a:p>
            <a:pPr algn="ctr"/>
            <a:r>
              <a:rPr lang="en-VN" sz="4800" dirty="0">
                <a:solidFill>
                  <a:srgbClr val="00B050"/>
                </a:solidFill>
              </a:rPr>
              <a:t>7,28 </a:t>
            </a:r>
          </a:p>
          <a:p>
            <a:pPr algn="ctr"/>
            <a:r>
              <a:rPr lang="en-VN" dirty="0">
                <a:solidFill>
                  <a:srgbClr val="00B050"/>
                </a:solidFill>
              </a:rPr>
              <a:t>Tỷ VNĐ</a:t>
            </a:r>
          </a:p>
          <a:p>
            <a:pPr algn="ctr"/>
            <a:endParaRPr lang="en-VN" dirty="0">
              <a:solidFill>
                <a:srgbClr val="00B050"/>
              </a:solidFill>
            </a:endParaRPr>
          </a:p>
          <a:p>
            <a:pPr algn="ctr"/>
            <a:endParaRPr lang="en-VN" dirty="0">
              <a:solidFill>
                <a:srgbClr val="00B050"/>
              </a:solidFill>
            </a:endParaRPr>
          </a:p>
          <a:p>
            <a:pPr algn="ctr"/>
            <a:r>
              <a:rPr lang="en-VN" dirty="0">
                <a:solidFill>
                  <a:srgbClr val="00B050"/>
                </a:solidFill>
              </a:rPr>
              <a:t>    +12,1%</a:t>
            </a:r>
          </a:p>
          <a:p>
            <a:pPr algn="ctr"/>
            <a:r>
              <a:rPr lang="en-VN" sz="1200" dirty="0"/>
              <a:t>So với T4/2024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F003A-73AF-123D-2EE6-D27B2C27661A}"/>
              </a:ext>
            </a:extLst>
          </p:cNvPr>
          <p:cNvSpPr/>
          <p:nvPr/>
        </p:nvSpPr>
        <p:spPr>
          <a:xfrm>
            <a:off x="6501577" y="1423214"/>
            <a:ext cx="2182760" cy="43753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</a:t>
            </a:r>
            <a:r>
              <a:rPr lang="en-VN" dirty="0">
                <a:solidFill>
                  <a:srgbClr val="0070C0"/>
                </a:solidFill>
              </a:rPr>
              <a:t>ỢI NHUẬN GỘP</a:t>
            </a:r>
          </a:p>
          <a:p>
            <a:pPr algn="ctr"/>
            <a:endParaRPr lang="en-VN" dirty="0">
              <a:solidFill>
                <a:srgbClr val="0070C0"/>
              </a:solidFill>
            </a:endParaRPr>
          </a:p>
          <a:p>
            <a:pPr algn="ctr"/>
            <a:r>
              <a:rPr lang="en-VN" sz="4800" dirty="0">
                <a:solidFill>
                  <a:srgbClr val="0070C0"/>
                </a:solidFill>
              </a:rPr>
              <a:t>5,17</a:t>
            </a:r>
          </a:p>
          <a:p>
            <a:pPr algn="ctr"/>
            <a:r>
              <a:rPr lang="en-VN" dirty="0">
                <a:solidFill>
                  <a:srgbClr val="0070C0"/>
                </a:solidFill>
              </a:rPr>
              <a:t>Tỷ VNĐ</a:t>
            </a:r>
          </a:p>
          <a:p>
            <a:pPr algn="ctr"/>
            <a:endParaRPr lang="en-VN" dirty="0">
              <a:solidFill>
                <a:srgbClr val="0070C0"/>
              </a:solidFill>
            </a:endParaRPr>
          </a:p>
          <a:p>
            <a:pPr algn="ctr"/>
            <a:endParaRPr lang="en-VN" dirty="0">
              <a:solidFill>
                <a:srgbClr val="0070C0"/>
              </a:solidFill>
            </a:endParaRPr>
          </a:p>
          <a:p>
            <a:pPr algn="ctr"/>
            <a:r>
              <a:rPr lang="en-VN" dirty="0">
                <a:solidFill>
                  <a:srgbClr val="0070C0"/>
                </a:solidFill>
              </a:rPr>
              <a:t>   +27,4%</a:t>
            </a:r>
          </a:p>
          <a:p>
            <a:pPr algn="ctr"/>
            <a:r>
              <a:rPr lang="en-US" sz="1200" dirty="0"/>
              <a:t>S</a:t>
            </a:r>
            <a:r>
              <a:rPr lang="en-VN" sz="1200" dirty="0"/>
              <a:t>o với T4/2024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40751B-3543-42A3-01F0-EF0288095894}"/>
              </a:ext>
            </a:extLst>
          </p:cNvPr>
          <p:cNvSpPr/>
          <p:nvPr/>
        </p:nvSpPr>
        <p:spPr>
          <a:xfrm>
            <a:off x="9389799" y="1423214"/>
            <a:ext cx="2104103" cy="43753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dirty="0">
                <a:solidFill>
                  <a:srgbClr val="FFC000"/>
                </a:solidFill>
              </a:rPr>
              <a:t>LỢI NHUẬN SAU THUẾ</a:t>
            </a:r>
          </a:p>
          <a:p>
            <a:pPr algn="ctr"/>
            <a:r>
              <a:rPr lang="en-VN" sz="4800" dirty="0">
                <a:solidFill>
                  <a:srgbClr val="FFC000"/>
                </a:solidFill>
              </a:rPr>
              <a:t>2,89</a:t>
            </a:r>
          </a:p>
          <a:p>
            <a:pPr algn="ctr"/>
            <a:r>
              <a:rPr lang="en-VN" dirty="0">
                <a:solidFill>
                  <a:srgbClr val="FFC000"/>
                </a:solidFill>
              </a:rPr>
              <a:t>Tỷ VNĐ</a:t>
            </a:r>
          </a:p>
          <a:p>
            <a:pPr algn="ctr"/>
            <a:endParaRPr lang="en-VN" dirty="0">
              <a:solidFill>
                <a:srgbClr val="FFC000"/>
              </a:solidFill>
            </a:endParaRPr>
          </a:p>
          <a:p>
            <a:pPr algn="ctr"/>
            <a:endParaRPr lang="en-VN" dirty="0">
              <a:solidFill>
                <a:srgbClr val="FFC000"/>
              </a:solidFill>
            </a:endParaRPr>
          </a:p>
          <a:p>
            <a:pPr algn="ctr"/>
            <a:r>
              <a:rPr lang="en-VN" dirty="0">
                <a:solidFill>
                  <a:srgbClr val="FFC000"/>
                </a:solidFill>
              </a:rPr>
              <a:t>   +31,2%</a:t>
            </a:r>
          </a:p>
          <a:p>
            <a:pPr algn="ctr"/>
            <a:r>
              <a:rPr lang="en-VN" sz="1200" dirty="0"/>
              <a:t>So với T4/2024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FC50D5-A52D-FA4C-8F8B-9DDF9B56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555" y="1496354"/>
            <a:ext cx="1120314" cy="7062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9EACE1-867C-6D2F-C3D8-DFD3AE321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022" y="1496354"/>
            <a:ext cx="983224" cy="7805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1181CD-69F6-BF94-97BD-17C2242E8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799" y="1488980"/>
            <a:ext cx="904665" cy="7689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F34EA0-2604-6903-B269-F1D0148C0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133" y="1488980"/>
            <a:ext cx="1028778" cy="702580"/>
          </a:xfrm>
          <a:prstGeom prst="rect">
            <a:avLst/>
          </a:prstGeom>
        </p:spPr>
      </p:pic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3A18EC46-16CD-A18E-2B22-E6DD3CBDC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2810" y="4528789"/>
            <a:ext cx="275303" cy="275303"/>
          </a:xfrm>
          <a:prstGeom prst="rect">
            <a:avLst/>
          </a:prstGeom>
        </p:spPr>
      </p:pic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6B25F423-EAE3-A6A6-ACE9-EC7F389E1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8373" y="4393585"/>
            <a:ext cx="292517" cy="292517"/>
          </a:xfrm>
          <a:prstGeom prst="rect">
            <a:avLst/>
          </a:prstGeom>
        </p:spPr>
      </p:pic>
      <p:pic>
        <p:nvPicPr>
          <p:cNvPr id="31" name="Graphic 30" descr="Warning with solid fill">
            <a:extLst>
              <a:ext uri="{FF2B5EF4-FFF2-40B4-BE49-F238E27FC236}">
                <a16:creationId xmlns:a16="http://schemas.microsoft.com/office/drawing/2014/main" id="{CFFEBF3D-93F5-AF25-3EFF-3F7FF753F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4555" y="4393585"/>
            <a:ext cx="319549" cy="319549"/>
          </a:xfrm>
          <a:prstGeom prst="rect">
            <a:avLst/>
          </a:prstGeom>
        </p:spPr>
      </p:pic>
      <p:pic>
        <p:nvPicPr>
          <p:cNvPr id="33" name="Graphic 32" descr="Warning with solid fill">
            <a:extLst>
              <a:ext uri="{FF2B5EF4-FFF2-40B4-BE49-F238E27FC236}">
                <a16:creationId xmlns:a16="http://schemas.microsoft.com/office/drawing/2014/main" id="{AAB8FEA6-D0F5-4169-0A22-5C8E65E26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4377" y="4408345"/>
            <a:ext cx="304789" cy="30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6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6197D5-25D1-64DD-E0EB-EB787CEE8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587" y="570271"/>
            <a:ext cx="8118229" cy="59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4293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532</TotalTime>
  <Words>65</Words>
  <Application>Microsoft Macintosh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1</cp:revision>
  <dcterms:created xsi:type="dcterms:W3CDTF">2026-10-26T02:14:44Z</dcterms:created>
  <dcterms:modified xsi:type="dcterms:W3CDTF">2026-10-26T11:07:24Z</dcterms:modified>
</cp:coreProperties>
</file>